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0" r:id="rId5"/>
    <p:sldId id="261" r:id="rId6"/>
    <p:sldId id="268" r:id="rId7"/>
    <p:sldId id="262" r:id="rId8"/>
    <p:sldId id="263" r:id="rId9"/>
    <p:sldId id="265" r:id="rId10"/>
    <p:sldId id="269" r:id="rId11"/>
    <p:sldId id="266" r:id="rId1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4A60-42D9-4F65-B6AF-34E98B6C0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2E5DE-ACA3-831C-034B-2E7E91C4C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90290-D581-DC93-0AA5-3E5A6C1C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7AE2F-5508-606C-CBEA-C2A5CE58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18C5B-F72E-1D31-92EC-BD21ABEF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0943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FEEE-AF24-67CC-6246-F3305EB4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B4B6-D098-FBFF-9770-0DC15FD3F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1ABFA-66A6-D3D5-DCE8-84CEAEC7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B2E0C-FB92-E585-BC21-5BE1E9EC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D924-61F0-E177-1B56-1F861E9E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6615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DC8B-4A9C-6073-7025-DACE5AFDC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441DD-B894-12FD-C8E2-B0E232582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4746-7B94-39BF-0181-E4995209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2E317-D7B9-C92B-C99A-0F8C1C51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4D727-B03D-9F9C-E92F-C5DBEB07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6698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156A-37D7-9996-1471-705348EE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E8B5-5B4D-BBAE-2EF2-6146A9270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D6955-062A-EC5B-B464-5469BC5DB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75040-DE7E-980E-28A1-2B7E5D28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2D793-AED6-FF97-0E37-A17850DA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4AC1D-6E75-431A-8C5B-8F3CF27F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5494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6B11-AAC2-12CD-605F-6A737897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A2D19-0E6E-D0BC-7375-C8D4D9EEF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663C5-8B0B-C2E0-DA30-C92E3461D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52675-41C1-FBC1-C879-EE6CBD474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1B498-8E91-022E-D807-923BE4CC6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5D9E6-FFE1-78F9-55D9-9792F1241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E02515-B75D-5007-109A-36E352C1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0B9C16-060F-D42E-7277-9DF8F62A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230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AE17-A4F4-8B51-EE7A-29CF4417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127B3-ABEC-CCD8-F24D-FA156B10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75D1F-8784-031F-D278-790FE153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F1039-2853-183B-192D-26539922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052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AAA9E-790D-5D64-1FCC-99A78CCA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8F85E-6CC7-2982-8A4B-088CBE20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38857-47D6-DAF5-3D92-57395D13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3054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49B0-104B-D248-F2BF-84298A2C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6C88-CF74-6151-C12D-9F1413D0C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DDCC9-1292-35B9-1C35-5FD9A72F1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E73E3-D393-C337-451E-94546085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BBAF9-EBEC-5C80-20FD-37B61ADA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3471D-3231-F3DA-42A1-F86D4DC7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2729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062C-4466-6BA8-C73E-9E1174C2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089C0-94E7-9595-114F-E045390AE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DBEC7-C996-ADBB-EDE3-16B6FC97F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299B9-1845-D81A-E490-D04C200A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F30F4-3F2D-0E90-49AF-5F44B438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EBC28-C13A-F1EA-1F60-A7D50B1F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490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C36B-2B3D-1DA9-B25A-F5FA9A11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AE587-4FFE-32CD-D06E-4C9D6D76B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6FB15-CB32-5E94-0357-4EE5C414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86982-C15F-27FE-053F-C41298C7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FB1A0-7F51-511A-66AA-7B155B41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7640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51049-4496-C9A6-DD47-FCAB288DA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39E4C-0654-870A-E91B-0F6ADFD20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1724A-E55B-91EA-6747-4C266CF1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039CF-3E8E-F683-BD32-53B7C53A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8E1CA-5049-9325-920A-8DD3BBD1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11271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6B89CC-8280-FFED-917A-9E046563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E3B5A-D6B7-3BE1-311C-24F8458A1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9733C-6133-244C-DAA6-D5B7A7CB1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F0A0C-90E2-49D5-83AA-233529F3DE7B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7B864-F448-85F1-85ED-9CC57E77A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3046-7AE2-AE2B-6EE9-25273A2A5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8185B-4061-4D4F-AFFA-55DD6F9187C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862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FAF8-FCDF-13F3-48C0-BEAC25B705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BigBlue</a:t>
            </a:r>
            <a:endParaRPr lang="el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AA5AB-4495-86D2-D14F-82B9A36C7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PROJECT 1</a:t>
            </a:r>
          </a:p>
          <a:p>
            <a:r>
              <a:rPr lang="en-US" dirty="0"/>
              <a:t>By </a:t>
            </a:r>
          </a:p>
          <a:p>
            <a:r>
              <a:rPr lang="en-US" dirty="0"/>
              <a:t>Lama Katerina</a:t>
            </a:r>
          </a:p>
          <a:p>
            <a:r>
              <a:rPr lang="en-US" dirty="0" err="1"/>
              <a:t>Polydoros</a:t>
            </a:r>
            <a:r>
              <a:rPr lang="en-US" dirty="0"/>
              <a:t> Manos</a:t>
            </a:r>
          </a:p>
          <a:p>
            <a:r>
              <a:rPr lang="en-US" dirty="0" err="1"/>
              <a:t>Mamatsopoulos</a:t>
            </a:r>
            <a:r>
              <a:rPr lang="en-US" dirty="0"/>
              <a:t> Themis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15687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A35A-CCDF-0024-290E-20F99FEE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subject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5ECE1-D8B8-0BDC-CF1A-96BAAD46C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Sales</a:t>
            </a:r>
          </a:p>
          <a:p>
            <a:pPr lvl="1"/>
            <a:r>
              <a:rPr lang="en-US" dirty="0"/>
              <a:t>Between 01/01/2020 and 29/12/2024</a:t>
            </a:r>
          </a:p>
          <a:p>
            <a:r>
              <a:rPr lang="en-US" dirty="0"/>
              <a:t>Which countries are the sales deployed ?</a:t>
            </a:r>
          </a:p>
          <a:p>
            <a:r>
              <a:rPr lang="en-US" dirty="0"/>
              <a:t>What is the distribution of each country to Sales</a:t>
            </a:r>
          </a:p>
          <a:p>
            <a:r>
              <a:rPr lang="en-US" dirty="0"/>
              <a:t>How are orders dispersed into countries</a:t>
            </a:r>
          </a:p>
          <a:p>
            <a:r>
              <a:rPr lang="en-US" dirty="0"/>
              <a:t>Product categories</a:t>
            </a:r>
          </a:p>
          <a:p>
            <a:pPr lvl="1"/>
            <a:r>
              <a:rPr lang="en-US" dirty="0"/>
              <a:t>How are they ranked through sales?</a:t>
            </a:r>
          </a:p>
          <a:p>
            <a:pPr lvl="1"/>
            <a:r>
              <a:rPr lang="en-US" dirty="0"/>
              <a:t>How are orders distributed trough categories</a:t>
            </a:r>
          </a:p>
          <a:p>
            <a:r>
              <a:rPr lang="en-US" dirty="0"/>
              <a:t>Categorized sales per Country</a:t>
            </a:r>
          </a:p>
          <a:p>
            <a:pPr lvl="1"/>
            <a:endParaRPr lang="en-US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9998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8C97-87B1-88BB-E7AA-3C646CAE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per Country (figures)</a:t>
            </a:r>
            <a:endParaRPr lang="el-G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FB31E5-5B7F-7345-C479-AFAD9C69A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949189"/>
              </p:ext>
            </p:extLst>
          </p:nvPr>
        </p:nvGraphicFramePr>
        <p:xfrm>
          <a:off x="399282" y="1690688"/>
          <a:ext cx="4114799" cy="3241675"/>
        </p:xfrm>
        <a:graphic>
          <a:graphicData uri="http://schemas.openxmlformats.org/drawingml/2006/table">
            <a:tbl>
              <a:tblPr/>
              <a:tblGrid>
                <a:gridCol w="1663025">
                  <a:extLst>
                    <a:ext uri="{9D8B030D-6E8A-4147-A177-3AD203B41FA5}">
                      <a16:colId xmlns:a16="http://schemas.microsoft.com/office/drawing/2014/main" val="3695241811"/>
                    </a:ext>
                  </a:extLst>
                </a:gridCol>
                <a:gridCol w="1396941">
                  <a:extLst>
                    <a:ext uri="{9D8B030D-6E8A-4147-A177-3AD203B41FA5}">
                      <a16:colId xmlns:a16="http://schemas.microsoft.com/office/drawing/2014/main" val="3073871140"/>
                    </a:ext>
                  </a:extLst>
                </a:gridCol>
                <a:gridCol w="1054833">
                  <a:extLst>
                    <a:ext uri="{9D8B030D-6E8A-4147-A177-3AD203B41FA5}">
                      <a16:colId xmlns:a16="http://schemas.microsoft.com/office/drawing/2014/main" val="1419788570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County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Total 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Number of orders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130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89569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United States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$47,935,105.93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52265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71415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India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$10,383,463.02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11310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89711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Canada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$3,924,934.67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4306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962209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United Kingdom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$3,316,230.45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3654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602288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Australia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$2,812,943.03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3093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1610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6FBF27C-E7A8-1D6C-57A5-543129105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7"/>
          <a:stretch>
            <a:fillRect/>
          </a:stretch>
        </p:blipFill>
        <p:spPr>
          <a:xfrm>
            <a:off x="4952999" y="1604455"/>
            <a:ext cx="6513576" cy="45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0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5A33-0892-C47F-D815-5C39AA36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Countries contribution to sales (pie)</a:t>
            </a:r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4B775-0D3E-0B10-E8EA-EEAD57A6F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1011"/>
            <a:ext cx="5562600" cy="5562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E72312-0486-7FF3-46DB-9E4EBD606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91" y="1371595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7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F0A2-46D7-B26F-357C-F3D279C5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98392" cy="4664075"/>
          </a:xfrm>
        </p:spPr>
        <p:txBody>
          <a:bodyPr/>
          <a:lstStyle/>
          <a:p>
            <a:r>
              <a:rPr lang="en-US" dirty="0"/>
              <a:t>United States Sales figures</a:t>
            </a:r>
            <a:endParaRPr lang="el-GR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D39CC00-F562-7FD6-F36A-ACE159AF6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438611"/>
              </p:ext>
            </p:extLst>
          </p:nvPr>
        </p:nvGraphicFramePr>
        <p:xfrm>
          <a:off x="4897755" y="390525"/>
          <a:ext cx="4133850" cy="607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34002" imgH="6076894" progId="Excel.Sheet.12">
                  <p:embed/>
                </p:oleObj>
              </mc:Choice>
              <mc:Fallback>
                <p:oleObj name="Worksheet" r:id="rId2" imgW="4134002" imgH="607689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97755" y="390525"/>
                        <a:ext cx="4133850" cy="607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836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38F5-C8DF-F736-20A8-C2D03F8D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E9F9-A3DD-C799-0178-1C870CE6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United States Sales view</a:t>
            </a:r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1810F-69CE-3CF8-F7CC-48B239E3B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0018"/>
            <a:ext cx="1219200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5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B7D64-A6E6-7108-A57C-0ACD497B1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9CE5-F7D2-ABAB-9BC6-F138CE7B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per Product Category</a:t>
            </a:r>
            <a:endParaRPr lang="el-GR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797868A-968F-A1D1-E46B-F42D1A832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371730"/>
              </p:ext>
            </p:extLst>
          </p:nvPr>
        </p:nvGraphicFramePr>
        <p:xfrm>
          <a:off x="554355" y="1557337"/>
          <a:ext cx="4591050" cy="374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91202" imgH="3743258" progId="Excel.Sheet.12">
                  <p:embed/>
                </p:oleObj>
              </mc:Choice>
              <mc:Fallback>
                <p:oleObj name="Worksheet" r:id="rId2" imgW="4591202" imgH="374325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4355" y="1557337"/>
                        <a:ext cx="4591050" cy="3743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516C574-C02A-DA14-313C-791ACBAAD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622" y="1347947"/>
            <a:ext cx="45910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8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8356-4131-D633-D221-2D416207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A089-D685-2386-E416-1C7B3F34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per Category</a:t>
            </a:r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1A67C-B89F-177E-9CCC-0E4674088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162"/>
            <a:ext cx="1219200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03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7B2A-9E11-E9CB-6C38-93440D36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298B-AC3C-8972-7FEF-9EF80D970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are the lowest sales?</a:t>
            </a:r>
          </a:p>
          <a:p>
            <a:pPr lvl="1"/>
            <a:r>
              <a:rPr lang="en-US" dirty="0"/>
              <a:t>Per Country?</a:t>
            </a:r>
          </a:p>
          <a:p>
            <a:pPr lvl="1"/>
            <a:r>
              <a:rPr lang="en-US" dirty="0"/>
              <a:t>Per Category?</a:t>
            </a:r>
          </a:p>
          <a:p>
            <a:pPr lvl="1"/>
            <a:r>
              <a:rPr lang="en-US" dirty="0"/>
              <a:t>Category per Country?</a:t>
            </a:r>
          </a:p>
          <a:p>
            <a:endParaRPr lang="en-US" dirty="0"/>
          </a:p>
          <a:p>
            <a:r>
              <a:rPr lang="en-US" dirty="0"/>
              <a:t>What is the best strategy to follow?</a:t>
            </a:r>
          </a:p>
          <a:p>
            <a:pPr lvl="1"/>
            <a:r>
              <a:rPr lang="en-US" dirty="0"/>
              <a:t>Empower further our strong countries / categories</a:t>
            </a:r>
          </a:p>
          <a:p>
            <a:pPr lvl="1"/>
            <a:r>
              <a:rPr lang="en-US" dirty="0"/>
              <a:t>Boost sales in weak countries / categories</a:t>
            </a:r>
          </a:p>
          <a:p>
            <a:pPr lvl="1"/>
            <a:r>
              <a:rPr lang="en-US" dirty="0"/>
              <a:t>Target new countries with old or new product categories</a:t>
            </a:r>
          </a:p>
          <a:p>
            <a:pPr lvl="1"/>
            <a:endParaRPr lang="en-US" dirty="0"/>
          </a:p>
          <a:p>
            <a:r>
              <a:rPr lang="en-US" dirty="0"/>
              <a:t>A further analysis should be appointed</a:t>
            </a:r>
          </a:p>
          <a:p>
            <a:pPr lvl="1"/>
            <a:r>
              <a:rPr lang="en-US" dirty="0"/>
              <a:t>For further insights extraction</a:t>
            </a:r>
          </a:p>
          <a:p>
            <a:r>
              <a:rPr lang="en-US" dirty="0"/>
              <a:t>For data-driven decisions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04384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A489-9F35-88DA-6AA6-64473CA6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RFM analysis attempt failed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672E5-7734-68CC-D39A-9192327CA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completed Data needed</a:t>
            </a:r>
          </a:p>
          <a:p>
            <a:r>
              <a:rPr lang="en-US" dirty="0"/>
              <a:t>Attempt to perform an RFM analysis failed</a:t>
            </a:r>
          </a:p>
          <a:p>
            <a:pPr lvl="1"/>
            <a:r>
              <a:rPr lang="en-US" dirty="0"/>
              <a:t>Due to Data limitations</a:t>
            </a:r>
          </a:p>
          <a:p>
            <a:pPr lvl="1"/>
            <a:r>
              <a:rPr lang="en-US" dirty="0"/>
              <a:t>70% of customers had only one order</a:t>
            </a:r>
          </a:p>
          <a:p>
            <a:pPr lvl="2"/>
            <a:r>
              <a:rPr lang="en-US" dirty="0"/>
              <a:t>Impossible to distribute in bins</a:t>
            </a:r>
          </a:p>
          <a:p>
            <a:pPr lvl="2"/>
            <a:r>
              <a:rPr lang="en-US" dirty="0"/>
              <a:t>Frequency analysis failed</a:t>
            </a:r>
          </a:p>
          <a:p>
            <a:r>
              <a:rPr lang="en-US" dirty="0"/>
              <a:t>RFM analysis</a:t>
            </a:r>
          </a:p>
          <a:p>
            <a:pPr lvl="1"/>
            <a:r>
              <a:rPr lang="en-US" dirty="0"/>
              <a:t>rather inappropriate for Amazon orders</a:t>
            </a:r>
          </a:p>
          <a:p>
            <a:pPr lvl="1"/>
            <a:r>
              <a:rPr lang="en-US" dirty="0"/>
              <a:t>Only if additional data demonstrate more than one purchase per customer</a:t>
            </a:r>
          </a:p>
        </p:txBody>
      </p:sp>
    </p:spTree>
    <p:extLst>
      <p:ext uri="{BB962C8B-B14F-4D97-AF65-F5344CB8AC3E}">
        <p14:creationId xmlns:p14="http://schemas.microsoft.com/office/powerpoint/2010/main" val="3457755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0030-C10A-38D3-53EB-646E3718A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l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2F1FB-EDD2-00D8-8473-625BEA9DA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YOUR ATTENTION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8183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238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Office Theme</vt:lpstr>
      <vt:lpstr>Worksheet</vt:lpstr>
      <vt:lpstr>Microsoft Excel Worksheet</vt:lpstr>
      <vt:lpstr>BigBlue</vt:lpstr>
      <vt:lpstr>The subject</vt:lpstr>
      <vt:lpstr>Sales per Country (figures)</vt:lpstr>
      <vt:lpstr>Countries contribution to sales (pie)</vt:lpstr>
      <vt:lpstr>United States Sales figures</vt:lpstr>
      <vt:lpstr>United States Sales view</vt:lpstr>
      <vt:lpstr>Sales per Product Category</vt:lpstr>
      <vt:lpstr>Sales per Category</vt:lpstr>
      <vt:lpstr>What’s NEXT</vt:lpstr>
      <vt:lpstr>RFM analysis attempt failed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Themis</dc:creator>
  <cp:lastModifiedBy>Themis</cp:lastModifiedBy>
  <cp:revision>9</cp:revision>
  <dcterms:created xsi:type="dcterms:W3CDTF">2025-12-06T09:45:39Z</dcterms:created>
  <dcterms:modified xsi:type="dcterms:W3CDTF">2025-12-06T15:18:45Z</dcterms:modified>
</cp:coreProperties>
</file>